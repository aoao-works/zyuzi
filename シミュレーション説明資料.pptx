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53440" y="1158240"/>
            <a:ext cx="1048512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32" b="0">
                <a:solidFill>
                  <a:srgbClr val="3B454F"/>
                </a:solidFill>
                <a:latin typeface="ＭＳ ゴシック"/>
              </a:rPr>
              <a:t>シミュレーション　説明資料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04672" y="1584960"/>
            <a:ext cx="106070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400" b="1">
                <a:solidFill>
                  <a:srgbClr val="1F2933"/>
                </a:solidFill>
                <a:latin typeface="ＭＳ ゴシック"/>
              </a:rPr>
              <a:t>十字路渋滞シミュレーション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804160"/>
            <a:ext cx="1048512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0">
                <a:solidFill>
                  <a:srgbClr val="3B454F"/>
                </a:solidFill>
                <a:latin typeface="ＭＳ ゴシック"/>
              </a:rPr>
              <a:t>片側1車線・右折専用レーンなし交差点における渋滞シミュレーション</a:t>
            </a:r>
          </a:p>
        </p:txBody>
      </p:sp>
      <p:sp>
        <p:nvSpPr>
          <p:cNvPr id="5" name="Rectangle 4"/>
          <p:cNvSpPr/>
          <p:nvPr/>
        </p:nvSpPr>
        <p:spPr>
          <a:xfrm>
            <a:off x="1341120" y="4328160"/>
            <a:ext cx="9509760" cy="414528"/>
          </a:xfrm>
          <a:prstGeom prst="rect">
            <a:avLst/>
          </a:prstGeom>
          <a:solidFill>
            <a:srgbClr val="2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2448850" y="4431624"/>
            <a:ext cx="292608" cy="207264"/>
          </a:xfrm>
          <a:prstGeom prst="rect">
            <a:avLst/>
          </a:prstGeom>
          <a:solidFill>
            <a:srgbClr val="3C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849188" y="4431624"/>
            <a:ext cx="292608" cy="207264"/>
          </a:xfrm>
          <a:prstGeom prst="rect">
            <a:avLst/>
          </a:prstGeom>
          <a:solidFill>
            <a:srgbClr val="3C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249526" y="4431624"/>
            <a:ext cx="292608" cy="2072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649864" y="4431624"/>
            <a:ext cx="292608" cy="2072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050202" y="4431624"/>
            <a:ext cx="292608" cy="207264"/>
          </a:xfrm>
          <a:prstGeom prst="rect">
            <a:avLst/>
          </a:prstGeom>
          <a:solidFill>
            <a:srgbClr val="D4A12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450540" y="4431624"/>
            <a:ext cx="292608" cy="207264"/>
          </a:xfrm>
          <a:prstGeom prst="rect">
            <a:avLst/>
          </a:prstGeom>
          <a:solidFill>
            <a:srgbClr val="3C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219200" y="4791456"/>
            <a:ext cx="12192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79838D"/>
                </a:solidFill>
                <a:latin typeface="ＭＳ ゴシック"/>
              </a:rPr>
              <a:t>0 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31680" y="4791456"/>
            <a:ext cx="1341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200" b="0">
                <a:solidFill>
                  <a:srgbClr val="79838D"/>
                </a:solidFill>
                <a:latin typeface="ＭＳ ゴシック"/>
              </a:rPr>
              <a:t>250 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3440" y="5084064"/>
            <a:ext cx="10485120" cy="131673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3B454F"/>
                </a:solidFill>
                <a:latin typeface="ＭＳ ゴシック"/>
              </a:rPr>
              <a:t>説明・工夫点まとめ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3B454F"/>
                </a:solidFill>
                <a:latin typeface="ＭＳ ゴシック"/>
              </a:rPr>
              <a:t>設計・実装レビュー資料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背景と目的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889760"/>
            <a:ext cx="597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2933"/>
                </a:solidFill>
                <a:latin typeface="ＭＳ ゴシック"/>
              </a:rPr>
              <a:t>対象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255520"/>
            <a:ext cx="597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B454F"/>
                </a:solidFill>
                <a:latin typeface="ＭＳ ゴシック"/>
              </a:rPr>
              <a:t>東西南北・各片側1車線・右折専用レーンなしの十字路交差点。車は右折・左折・直進のいずれかで通過する。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108960"/>
            <a:ext cx="597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2933"/>
                </a:solidFill>
                <a:latin typeface="ＭＳ ゴシック"/>
              </a:rPr>
              <a:t>問い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3474720"/>
            <a:ext cx="597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B454F"/>
                </a:solidFill>
                <a:latin typeface="ＭＳ ゴシック"/>
              </a:rPr>
              <a:t>渋滞をどう再現し、どう可視化するか。密度・右折待ち台数・平均滞在時間などが候補になる。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328160"/>
            <a:ext cx="597408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2933"/>
                </a:solidFill>
                <a:latin typeface="ＭＳ ゴシック"/>
              </a:rPr>
              <a:t>方針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4693920"/>
            <a:ext cx="597408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00" b="0">
                <a:solidFill>
                  <a:srgbClr val="3B454F"/>
                </a:solidFill>
                <a:latin typeface="ＭＳ ゴシック"/>
              </a:rPr>
              <a:t>到着率・進入路長・信号の青割合・右折ギャップ距離などのパラメータを変えながら、渋滞の発生条件を観察する。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54240" y="2072640"/>
            <a:ext cx="4328160" cy="24384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7559040" y="3108960"/>
            <a:ext cx="3718560" cy="414528"/>
          </a:xfrm>
          <a:prstGeom prst="rect">
            <a:avLst/>
          </a:prstGeom>
          <a:solidFill>
            <a:srgbClr val="2B3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8068665" y="3212424"/>
            <a:ext cx="292608" cy="207264"/>
          </a:xfrm>
          <a:prstGeom prst="rect">
            <a:avLst/>
          </a:prstGeom>
          <a:solidFill>
            <a:srgbClr val="3C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8870898" y="3212424"/>
            <a:ext cx="292608" cy="207264"/>
          </a:xfrm>
          <a:prstGeom prst="rect">
            <a:avLst/>
          </a:prstGeom>
          <a:solidFill>
            <a:srgbClr val="3C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673131" y="3212424"/>
            <a:ext cx="292608" cy="2072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0475364" y="3212424"/>
            <a:ext cx="292608" cy="207264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59040" y="2657856"/>
            <a:ext cx="170688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>進行 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0" y="3877056"/>
            <a:ext cx="42062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>赤信号 → 右折待ち → 渋滞の起点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254240" y="4608576"/>
            <a:ext cx="4328160" cy="34137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67" b="1">
                <a:solidFill>
                  <a:srgbClr val="1F2933"/>
                </a:solidFill>
                <a:latin typeface="ＭＳ ゴシック"/>
              </a:rPr>
              <a:t>右折専用レーンなしのモデル化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シミュレーションの概要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7264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再現対象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207264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十字路交差点での車両の走行・信号待ち・右折待ちをリアルタイムに可視化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82854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950464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到着モデル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5120" y="2950464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各方向で独立にポアソン過程に従い到着し、指数分布で到着間隔を決定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706368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828288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速度モデル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120" y="3828288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グリーンシールドの流体近似で各車の速度を毎ステップ計算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584192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706112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A23B2E"/>
                </a:solidFill>
                <a:latin typeface="ＭＳ ゴシック"/>
              </a:rPr>
              <a:t>渋滞判定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5120" y="4706112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A23B2E"/>
                </a:solidFill>
                <a:latin typeface="ＭＳ ゴシック"/>
              </a:rPr>
              <a:t>4方向の最大密度 ÷ 臨界密度の比が1を超えると「渋滞」と判定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462016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668800"/>
            <a:ext cx="1078992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79838D"/>
                </a:solidFill>
                <a:latin typeface="ＭＳ ゴシック"/>
              </a:rPr>
              <a:t>主要パラメータ：進入路長（既定250m）／到着率λ（既定10台/min）／信号サイクル60秒・上下青割合g（既定0.5）／右折ギャップD（既定50m）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速度モデル：グリーンシールドの流体近似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072640"/>
            <a:ext cx="762000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2933"/>
                </a:solidFill>
                <a:latin typeface="ＭＳ ゴシック"/>
              </a:rPr>
              <a:t>v(r) = 0</a:t>
            </a:r>
            <a:r>
              <a:rPr sz="1333" b="0">
                <a:solidFill>
                  <a:srgbClr val="79838D"/>
                </a:solidFill>
                <a:latin typeface="ＭＳ ゴシック"/>
              </a:rPr>
              <a:t>　　　　　(r ≤ JAMGAP)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200000" y="2170176"/>
            <a:ext cx="60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(1)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048000"/>
            <a:ext cx="920000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1">
                <a:solidFill>
                  <a:srgbClr val="1F2933"/>
                </a:solidFill>
                <a:latin typeface="ＭＳ ゴシック"/>
              </a:rPr>
              <a:t>v(r) = VFREE × (1 − JAMGAP / r)</a:t>
            </a:r>
            <a:r>
              <a:rPr sz="1333" b="0">
                <a:solidFill>
                  <a:srgbClr val="79838D"/>
                </a:solidFill>
                <a:latin typeface="ＭＳ ゴシック"/>
              </a:rPr>
              <a:t>　　(r &gt; JAMGAP、0〜VFREEに制限)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200000" y="3121152"/>
            <a:ext cx="609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(2)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4084320"/>
            <a:ext cx="4876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67" b="1">
                <a:solidFill>
                  <a:srgbClr val="79838D"/>
                </a:solidFill>
                <a:latin typeface="ＭＳ ゴシック"/>
              </a:rPr>
              <a:t>パラメータ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3440" y="4511040"/>
            <a:ext cx="330000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1F2933"/>
                </a:solidFill>
                <a:latin typeface="ＭＳ ゴシック"/>
              </a:rPr>
              <a:t>VFREE = 40 km/h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200000" y="4572000"/>
            <a:ext cx="4900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自由走行速度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3440" y="5057760"/>
            <a:ext cx="330000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3B454F"/>
                </a:solidFill>
                <a:latin typeface="ＭＳ ゴシック"/>
              </a:rPr>
              <a:t>JAMGAP = 3 m　CARLEN = 3 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200000" y="5118720"/>
            <a:ext cx="4900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最低車間・車長（ジャム時車頭間隔6m）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53440" y="5604480"/>
            <a:ext cx="330000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A23B2E"/>
                </a:solidFill>
                <a:latin typeface="ＭＳ ゴシック"/>
              </a:rPr>
              <a:t>K_JAM ≒ 166.7 台/km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200000" y="5665440"/>
            <a:ext cx="4900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ジャム密度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3440" y="6151200"/>
            <a:ext cx="330000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>
                <a:solidFill>
                  <a:srgbClr val="D4A12C"/>
                </a:solidFill>
                <a:latin typeface="ＭＳ ゴシック"/>
              </a:rPr>
              <a:t>K_CRIT（数値探索で算出）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00000" y="6212160"/>
            <a:ext cx="490000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臨界密度（交通量が最大になる密度）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53440" y="6083808"/>
            <a:ext cx="1048512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刻み幅 Δt = 0.01分（0.6秒）を1フレームで最大400回積み上げて実行速度に反映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到着過程と進路決定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7264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到着過程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207264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各方向で独立にポアソン過程に従って到着（到着間隔は指数分布からサンプリング）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82854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950464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到着率 λ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5120" y="2950464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方向ごとにスライダーで個別設定可能（既定10台/min、1〜24台/minで変更可）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706368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828288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入口待機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120" y="3828288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入口が詰まっている場合はキューで待機し、車間が確保でき次第、進入路起点に生成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584192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706112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進路決定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5120" y="4706112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到着時にランダムに進路を決定：左折:直進:右折 = 1/4 : 1/2 : 1/4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462016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TextBox 15"/>
          <p:cNvSpPr txBox="1"/>
          <p:nvPr/>
        </p:nvSpPr>
        <p:spPr>
          <a:xfrm>
            <a:off x="731520" y="5668800"/>
            <a:ext cx="10789920" cy="8534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79838D"/>
                </a:solidFill>
                <a:latin typeface="ＭＳ ゴシック"/>
              </a:rPr>
              <a:t>進路により、交差点通過後に接続する退出方向（レーン）が決まる（例：北行き車が右折→東行きの道路へ合流）。到着間隔・進路選択を確率過程で再現することで、毎回異なる渋滞パターンが発生する。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信号制御：2現示式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7264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現示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207264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南北方向と東西方向が交互に青になる2現示の信号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82854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950464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サイクル長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5120" y="2950464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60秒固定。「上下方向の青の割合 g」をスライダーで調整（既定 g=0.5 → 青30秒/赤30秒）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706368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828288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排他制御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120" y="3828288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上下が青の間は左右は必ず赤（その逆も同様）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584192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706112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赤信号中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5120" y="4706112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その方向の車はすべて停止線手前で停止する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462016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4800000" y="5783936"/>
            <a:ext cx="2600000" cy="900000"/>
          </a:xfrm>
          <a:prstGeom prst="roundRect">
            <a:avLst/>
          </a:prstGeom>
          <a:solidFill>
            <a:srgbClr val="3C9A5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2000" b="1">
                <a:solidFill>
                  <a:srgbClr val="FFFFFF"/>
                </a:solidFill>
                <a:latin typeface="ＭＳ ゴシック"/>
              </a:rPr>
              <a:t>上下：青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833936"/>
            <a:ext cx="1048512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333" b="0">
                <a:solidFill>
                  <a:srgbClr val="79838D"/>
                </a:solidFill>
                <a:latin typeface="ＭＳ ゴシック"/>
              </a:rPr>
              <a:t>（2現示のため左右方向はこの逆の状態と分かる。右上パネルに常時1行で表示）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右折ルール：対向車線のギャップ判定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0000"/>
            <a:ext cx="1078992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ＭＳ ゴシック"/>
              </a:rPr>
              <a:t>右折可能となる条件（いずれかを満たせば右折可）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35000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条件1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865120" y="235000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自分の信号が青　かつ　対向車線の先頭車が「直進 or 左折」で、交差点からギャップ距離D（既定50m）以内にいない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31520" y="310590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731520" y="307000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先頭車判定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865120" y="307000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対向車線は先頭の1台だけが脅威（追い越し不可のため後続車は先頭車がはけるまで近づけない前提）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731520" y="382590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731520" y="379000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右折同士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865120" y="379000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対向の先頭車が「右折」の場合は進路が交わらないため、常に右折可能（右折同士は同時通行）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731520" y="454590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731520" y="451000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条件2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865120" y="451000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青信号のまま1分間（信号1サイクル分）待ってもギャップが来ない場合、強制的に右折を実行（デッドロック回避の安全弁）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31520" y="526590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731520" y="5290000"/>
            <a:ext cx="1078992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67" b="1">
                <a:solidFill>
                  <a:srgbClr val="A23B2E"/>
                </a:solidFill>
                <a:latin typeface="ＭＳ ゴシック"/>
              </a:rPr>
              <a:t>満たさない間は右折車が停止線手前で待機し、後続車も同一車線でせき止められる（渋滞の主要因）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交差点通過判定：毎ステップの処理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8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853440" y="2133600"/>
            <a:ext cx="1048512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914400" y="2206752"/>
            <a:ext cx="10485120" cy="390144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7" b="1">
                <a:solidFill>
                  <a:srgbClr val="1F2933"/>
                </a:solidFill>
                <a:latin typeface="ＭＳ ゴシック"/>
              </a:rPr>
              <a:t>アルゴリズム　1ステップの更新（時間刻み Δt = 0.01 min）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853440" y="2682240"/>
            <a:ext cx="1048512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75360" y="2865120"/>
            <a:ext cx="10241280" cy="67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7" b="1">
                <a:solidFill>
                  <a:srgbClr val="A23B2E"/>
                </a:solidFill>
                <a:latin typeface="ＭＳ ゴシック"/>
              </a:rPr>
              <a:t>1.　</a:t>
            </a:r>
            <a:r>
              <a:rPr sz="1667" b="1">
                <a:solidFill>
                  <a:srgbClr val="1F2933"/>
                </a:solidFill>
                <a:latin typeface="ＭＳ ゴシック"/>
              </a:rPr>
              <a:t>到着　</a:t>
            </a:r>
            <a:r>
              <a:rPr sz="1667" b="0">
                <a:solidFill>
                  <a:srgbClr val="3B454F"/>
                </a:solidFill>
                <a:latin typeface="ＭＳ ゴシック"/>
              </a:rPr>
              <a:t>ポアソン過程で到着車を生成し、キューに積む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75360" y="3621024"/>
            <a:ext cx="10241280" cy="67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7" b="1">
                <a:solidFill>
                  <a:srgbClr val="A23B2E"/>
                </a:solidFill>
                <a:latin typeface="ＭＳ ゴシック"/>
              </a:rPr>
              <a:t>2.　</a:t>
            </a:r>
            <a:r>
              <a:rPr sz="1667" b="1">
                <a:solidFill>
                  <a:srgbClr val="1F2933"/>
                </a:solidFill>
                <a:latin typeface="ＭＳ ゴシック"/>
              </a:rPr>
              <a:t>信号判定　</a:t>
            </a:r>
            <a:r>
              <a:rPr sz="1667" b="0">
                <a:solidFill>
                  <a:srgbClr val="3B454F"/>
                </a:solidFill>
                <a:latin typeface="ＭＳ ゴシック"/>
              </a:rPr>
              <a:t>現在時刻から各方向の信号色（青/赤）を判定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5360" y="4376928"/>
            <a:ext cx="10241280" cy="67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7" b="1">
                <a:solidFill>
                  <a:srgbClr val="A23B2E"/>
                </a:solidFill>
                <a:latin typeface="ＭＳ ゴシック"/>
              </a:rPr>
              <a:t>3.　</a:t>
            </a:r>
            <a:r>
              <a:rPr sz="1667" b="1">
                <a:solidFill>
                  <a:srgbClr val="1F2933"/>
                </a:solidFill>
                <a:latin typeface="ＭＳ ゴシック"/>
              </a:rPr>
              <a:t>ギャップ判定　</a:t>
            </a:r>
            <a:r>
              <a:rPr sz="1667" b="0">
                <a:solidFill>
                  <a:srgbClr val="3B454F"/>
                </a:solidFill>
                <a:latin typeface="ＭＳ ゴシック"/>
              </a:rPr>
              <a:t>各方向、対向車線のギャップが開いているか判定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75360" y="5132832"/>
            <a:ext cx="10241280" cy="670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67" b="1">
                <a:solidFill>
                  <a:srgbClr val="A23B2E"/>
                </a:solidFill>
                <a:latin typeface="ＭＳ ゴシック"/>
              </a:rPr>
              <a:t>4.　</a:t>
            </a:r>
            <a:r>
              <a:rPr sz="1667" b="1">
                <a:solidFill>
                  <a:srgbClr val="1F2933"/>
                </a:solidFill>
                <a:latin typeface="ＭＳ ゴシック"/>
              </a:rPr>
              <a:t>前進・通過　</a:t>
            </a:r>
            <a:r>
              <a:rPr sz="1667" b="0">
                <a:solidFill>
                  <a:srgbClr val="3B454F"/>
                </a:solidFill>
                <a:latin typeface="ＭＳ ゴシック"/>
              </a:rPr>
              <a:t>進入路の車を速度モデルで前進させ、通過条件を満たした車を退出側へ転送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53440" y="5988736"/>
            <a:ext cx="1048512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53440" y="6138736"/>
            <a:ext cx="10485120" cy="5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79838D"/>
                </a:solidFill>
                <a:latin typeface="ＭＳ ゴシック"/>
              </a:rPr>
              <a:t>退出側の車を進め、進入路長到達で除去・滞在時間を集計。密度・右折待ち等の統計も毎ステップ記録する。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画面表示のデザイン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950000"/>
            <a:ext cx="597408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ＭＳ ゴシック"/>
              </a:rPr>
              <a:t>車両の表示（状態＝色）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2450000"/>
            <a:ext cx="280000" cy="280000"/>
          </a:xfrm>
          <a:prstGeom prst="ellipse">
            <a:avLst/>
          </a:prstGeom>
          <a:solidFill>
            <a:srgbClr val="17A5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150000" y="2430000"/>
            <a:ext cx="4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3B454F"/>
                </a:solidFill>
                <a:latin typeface="ＭＳ ゴシック"/>
              </a:rPr>
              <a:t>青緑　＝　走行中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930000"/>
            <a:ext cx="280000" cy="280000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150000" y="2910000"/>
            <a:ext cx="4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3B454F"/>
                </a:solidFill>
                <a:latin typeface="ＭＳ ゴシック"/>
              </a:rPr>
              <a:t>赤　＝　右折待ち／信号待ち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3410000"/>
            <a:ext cx="280000" cy="280000"/>
          </a:xfrm>
          <a:prstGeom prst="ellipse">
            <a:avLst/>
          </a:prstGeom>
          <a:solidFill>
            <a:srgbClr val="707B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150000" y="3390000"/>
            <a:ext cx="4500000" cy="4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>
                <a:solidFill>
                  <a:srgbClr val="3B454F"/>
                </a:solidFill>
                <a:latin typeface="ＭＳ ゴシック"/>
              </a:rPr>
              <a:t>グレー　＝　交差点通過後（走行中）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040000"/>
            <a:ext cx="5974080" cy="9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3B454F"/>
                </a:solidFill>
                <a:latin typeface="ＭＳ ゴシック"/>
              </a:rPr>
              <a:t>車の上の矢印：実際に退出する方位（左折・直進・右折）を指す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>
                <a:solidFill>
                  <a:srgbClr val="3B454F"/>
                </a:solidFill>
                <a:latin typeface="ＭＳ ゴシック"/>
              </a:rPr>
              <a:t>交差点手前のゲート：各アーム停止線の色付きバー（緑＝通行可／赤＝停止）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54240" y="1950000"/>
            <a:ext cx="4328160" cy="4200000"/>
          </a:xfrm>
          <a:prstGeom prst="rect">
            <a:avLst/>
          </a:prstGeom>
          <a:solidFill>
            <a:srgbClr val="FFFFFF"/>
          </a:solidFill>
          <a:ln w="9525">
            <a:solidFill>
              <a:srgbClr val="D7DBD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80000" y="2100000"/>
            <a:ext cx="3900000" cy="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>
                <a:solidFill>
                  <a:srgbClr val="1F2933"/>
                </a:solidFill>
                <a:latin typeface="ＭＳ ゴシック"/>
              </a:rPr>
              <a:t>工夫点（修正履歴より）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80000" y="2600000"/>
            <a:ext cx="3900000" cy="34000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>・進路ごとの色分け→分かりづらいため、色＝状態／矢印＝進路に整理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>・ズーム範囲が狭く、停止線到達前に車が画面外へ消える不具合を修正（ズーム基準を停止線からの距離に変更）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>・各アーム停止線に色付きゲートを追加し、右上信号パネルと合わせて通行可否を明示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333" b="0">
                <a:solidFill>
                  <a:srgbClr val="3B454F"/>
                </a:solidFill>
                <a:latin typeface="ＭＳ ゴシック"/>
              </a:rPr>
              <a:t>・説明文・重複表示を削減し画面全体をシンプル化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集計指標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2072640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密度（台/km）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865120" y="2072640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各方向の進入路上にいる車両数 ÷ 進入路長 × 1000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731520" y="2828544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731520" y="2950464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右折待ち台数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65120" y="2950464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右折待機フラグが立っている車両数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731520" y="3706368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3828288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1F2933"/>
                </a:solidFill>
                <a:latin typeface="ＭＳ ゴシック"/>
              </a:rPr>
              <a:t>平均滞在時間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65120" y="3828288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3B454F"/>
                </a:solidFill>
                <a:latin typeface="ＭＳ ゴシック"/>
              </a:rPr>
              <a:t>到着から進入路長到達（退出）までの平均時間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31520" y="4584192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4706112"/>
            <a:ext cx="207264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67" b="1">
                <a:solidFill>
                  <a:srgbClr val="A23B2E"/>
                </a:solidFill>
                <a:latin typeface="ＭＳ ゴシック"/>
              </a:rPr>
              <a:t>渋滞判定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65120" y="4706112"/>
            <a:ext cx="8592960" cy="609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A23B2E"/>
                </a:solidFill>
                <a:latin typeface="ＭＳ ゴシック"/>
              </a:rPr>
              <a:t>4方向の最大密度 ÷ 臨界密度 k_crit の比。1を超えると「渋滞」と判定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31520" y="5462016"/>
            <a:ext cx="1072896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7136" y="804672"/>
            <a:ext cx="1072896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333" b="1">
                <a:solidFill>
                  <a:srgbClr val="1F2933"/>
                </a:solidFill>
                <a:latin typeface="ＭＳ ゴシック"/>
              </a:rPr>
              <a:t>まとめと工夫点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850880" y="6437376"/>
            <a:ext cx="609600" cy="30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133" b="0">
                <a:solidFill>
                  <a:srgbClr val="AEB6BD"/>
                </a:solidFill>
                <a:latin typeface="ＭＳ ゴシック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53440" y="2133600"/>
            <a:ext cx="1048512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A23B2E"/>
                </a:solidFill>
                <a:latin typeface="ＭＳ ゴシック"/>
              </a:rPr>
              <a:t>1　</a:t>
            </a:r>
            <a:r>
              <a:rPr sz="2000" b="1">
                <a:solidFill>
                  <a:srgbClr val="1F2933"/>
                </a:solidFill>
                <a:latin typeface="ＭＳ ゴシック"/>
              </a:rPr>
              <a:t>現実らしい速度モデルを採用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402080" y="2645664"/>
            <a:ext cx="99974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3B454F"/>
                </a:solidFill>
                <a:latin typeface="ＭＳ ゴシック"/>
              </a:rPr>
              <a:t>グリーンシールドの流体近似を距離ベースの連続関数として実装し、信号待ち・渋滞・右折待ちを統一ロジックで扱えるようにした。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53440" y="3213600"/>
            <a:ext cx="1048512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A23B2E"/>
                </a:solidFill>
                <a:latin typeface="ＭＳ ゴシック"/>
              </a:rPr>
              <a:t>2　</a:t>
            </a:r>
            <a:r>
              <a:rPr sz="2000" b="1">
                <a:solidFill>
                  <a:srgbClr val="1F2933"/>
                </a:solidFill>
                <a:latin typeface="ＭＳ ゴシック"/>
              </a:rPr>
              <a:t>右折の詰まりを丁寧に再現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02080" y="3725664"/>
            <a:ext cx="99974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3B454F"/>
                </a:solidFill>
                <a:latin typeface="ＭＳ ゴシック"/>
              </a:rPr>
              <a:t>対向車線「先頭車のみ」をチェックする現実的な近似と、位置ベースの脅威判定で信号切替時のすり抜けバグを解消した。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3440" y="4293600"/>
            <a:ext cx="1048512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A23B2E"/>
                </a:solidFill>
                <a:latin typeface="ＭＳ ゴシック"/>
              </a:rPr>
              <a:t>3　</a:t>
            </a:r>
            <a:r>
              <a:rPr sz="2000" b="1">
                <a:solidFill>
                  <a:srgbClr val="1F2933"/>
                </a:solidFill>
                <a:latin typeface="ＭＳ ゴシック"/>
              </a:rPr>
              <a:t>デッドロック回避策を用意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02080" y="4805664"/>
            <a:ext cx="99974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3B454F"/>
                </a:solidFill>
                <a:latin typeface="ＭＳ ゴシック"/>
              </a:rPr>
              <a:t>青信号のまま1分間ギャップが来ない場合の強制右折という安全弁を設け、永久停止を防止した。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3440" y="5373600"/>
            <a:ext cx="10485120" cy="48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>
                <a:solidFill>
                  <a:srgbClr val="A23B2E"/>
                </a:solidFill>
                <a:latin typeface="ＭＳ ゴシック"/>
              </a:rPr>
              <a:t>4　</a:t>
            </a:r>
            <a:r>
              <a:rPr sz="2000" b="1">
                <a:solidFill>
                  <a:srgbClr val="1F2933"/>
                </a:solidFill>
                <a:latin typeface="ＭＳ ゴシック"/>
              </a:rPr>
              <a:t>視認性を継続的に改善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02080" y="5885664"/>
            <a:ext cx="9997440" cy="6096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467" b="0">
                <a:solidFill>
                  <a:srgbClr val="3B454F"/>
                </a:solidFill>
                <a:latin typeface="ＭＳ ゴシック"/>
              </a:rPr>
              <a:t>信号パネルの統合、状態＝色／進路＝矢印の役割分担、ズーム基準の修正、色付きゲートの追加により表示の分かりやすさを高めた。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853440" y="6493600"/>
            <a:ext cx="10485120" cy="0"/>
          </a:xfrm>
          <a:prstGeom prst="line">
            <a:avLst/>
          </a:prstGeom>
          <a:ln w="9525">
            <a:solidFill>
              <a:srgbClr val="D7DBD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853440" y="6633600"/>
            <a:ext cx="10485120" cy="426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33" b="0">
                <a:solidFill>
                  <a:srgbClr val="79838D"/>
                </a:solidFill>
                <a:latin typeface="ＭＳ ゴシック"/>
              </a:rPr>
              <a:t>今後の拡張　複数車線・右折専用レーン、車種の混在、需要の時間変動への対応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